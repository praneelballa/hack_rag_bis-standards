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DFEA"/>
    <a:srgbClr val="03FFDF"/>
    <a:srgbClr val="00B6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Hit Rate @3</c:v>
                </c:pt>
                <c:pt idx="1">
                  <c:v>MRR @5 (scaled)</c:v>
                </c:pt>
                <c:pt idx="2">
                  <c:v>Latency Score (1 - t/5s)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0.9</c:v>
                </c:pt>
                <c:pt idx="2">
                  <c:v>0.35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7556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7556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5b12201-b052-469e-9d20-3a545316a30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stage: MSEs are the backbone of Indian manufacturing, yet compliance is a serious bottleneck. Emphasize the human cost — weeks wasted, money lost, growth delayed.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promise: instant, accurate BIS standard matching. The engine removes the need for MSEs to have any compliance expertise in-house.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pipeline stage in order. Emphasize that this is production-ready architecture, not a prototype — Qdrant handles scale, hybrid retrieval maximizes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70/30 hybrid split is the secret sauce — semantic alone misses exact standard codes; keyword alone misses conceptual matches. Together they outperform either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moment — walk through this exact query live if possible. Emphasize that rationales are human-readable, actionable, and accurate. The UI is clean enough for a non-technical MSE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Quantified results remove doubt. Hit Rate @3 of 92% means an MSE owner will almost always see the right standard without scrolling. MRR shows the relevant result is consistently the top-ranked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technical to business value. Judges care about real-world impact — frame the scale of the opportunity. The bottom stat is your leave-behind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energy and gratitude. The closing quote is your emotional anchor — it connects technical work to human purpose. Invite questions confidently.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3FFDF"/>
                </a:solidFill>
              </a:rPr>
              <a:t> PROBLEM </a:t>
            </a:r>
            <a:r>
              <a:rPr lang="en-US" sz="1400" b="1" kern="0" spc="300" dirty="0">
                <a:solidFill>
                  <a:srgbClr val="03FFDF"/>
                </a:solidFill>
                <a:uFillTx/>
              </a:rPr>
              <a:t>STATEMENT</a:t>
            </a:r>
            <a:endParaRPr lang="en-US" sz="1400" b="1" kern="0" spc="300" dirty="0">
              <a:solidFill>
                <a:srgbClr val="03FFDF"/>
              </a:solidFill>
              <a:uFillTx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MSE Compliance Gap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309370"/>
            <a:ext cx="493776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600" u="sng" dirty="0">
                <a:solidFill>
                  <a:srgbClr val="FFFFFF"/>
                </a:solidFill>
                <a:latin typeface="Times New Roman" panose="02020603050405020304" charset="0"/>
                <a:ea typeface="Roboto Medium" panose="02000000000000000000" pitchFamily="34" charset="-122"/>
                <a:cs typeface="Times New Roman" panose="02020603050405020304" charset="0"/>
                <a:sym typeface="+mn-ea"/>
              </a:rPr>
              <a:t>Indian MSEs Are Drowning in BIS Compliance PDFs</a:t>
            </a:r>
            <a:endParaRPr lang="en-US" sz="1600" u="sng" dirty="0">
              <a:solidFill>
                <a:srgbClr val="FFFFFF"/>
              </a:solidFill>
              <a:latin typeface="Times New Roman" panose="02020603050405020304" charset="0"/>
              <a:ea typeface="Roboto Medium" panose="02000000000000000000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212721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9770" y="214249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Weeks of manual search through dense BIS SP 21 documents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7157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64490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No structured discovery tool — only PDFs and generic search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30073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3224784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MSEs lack compliance experts; errors risk legal liability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88569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3804031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Delays slow market entry for Building Material products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897880" y="777240"/>
            <a:ext cx="2971800" cy="3078480"/>
          </a:xfrm>
          <a:prstGeom prst="rect">
            <a:avLst/>
          </a:prstGeom>
          <a:solidFill>
            <a:srgbClr val="0A1F45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852160" y="77724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3FFDF"/>
                </a:solidFill>
                <a:uFillTx/>
              </a:rPr>
              <a:t>MSE Reality Check</a:t>
            </a:r>
            <a:endParaRPr lang="en-US" sz="1400" b="1" i="1" dirty="0">
              <a:solidFill>
                <a:srgbClr val="03FFDF"/>
              </a:solidFill>
              <a:uFillTx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161405" y="1603375"/>
            <a:ext cx="1290955" cy="362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63M+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7452360" y="1610360"/>
            <a:ext cx="925830" cy="332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MSEs in India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75375" y="2072005"/>
            <a:ext cx="1276985" cy="478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3–6 wks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7452360" y="2202815"/>
            <a:ext cx="1089025" cy="339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000" dirty="0">
                <a:solidFill>
                  <a:schemeClr val="bg1"/>
                </a:solidFill>
              </a:rPr>
              <a:t>A</a:t>
            </a:r>
            <a:r>
              <a:rPr lang="en-US" sz="1000" dirty="0">
                <a:solidFill>
                  <a:schemeClr val="bg1"/>
                </a:solidFill>
              </a:rPr>
              <a:t>vg. compliance search time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6221730" y="2672715"/>
            <a:ext cx="1229995" cy="467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80%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7325995" y="2802255"/>
            <a:ext cx="1218565" cy="29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lack in-house </a:t>
            </a:r>
            <a:r>
              <a:rPr lang="en-IN" altLang="en-US" sz="1000" dirty="0">
                <a:solidFill>
                  <a:schemeClr val="bg1"/>
                </a:solidFill>
              </a:rPr>
              <a:t>          </a:t>
            </a:r>
            <a:r>
              <a:rPr lang="en-US" sz="1000" dirty="0">
                <a:solidFill>
                  <a:schemeClr val="bg1"/>
                </a:solidFill>
              </a:rPr>
              <a:t>compliance teams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51880" y="3223895"/>
            <a:ext cx="130048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~1,000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367905" y="3336925"/>
            <a:ext cx="1510030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BIS standards for Building Materials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3FFDF"/>
                </a:solidFill>
                <a:uFillTx/>
              </a:rPr>
              <a:t>SOLUTION OVERVIEW</a:t>
            </a:r>
            <a:endParaRPr lang="en-US" sz="1400" b="1" kern="0" spc="300" dirty="0">
              <a:solidFill>
                <a:srgbClr val="03FFDF"/>
              </a:solidFill>
              <a:uFillTx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BIS Standards Recommendation Engine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459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051560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From product description to top-matched BIS standards — in under 5 seconds.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624965"/>
            <a:ext cx="2011680" cy="29495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Shape 5"/>
          <p:cNvSpPr/>
          <p:nvPr/>
        </p:nvSpPr>
        <p:spPr>
          <a:xfrm>
            <a:off x="274320" y="1622425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81051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" y="237744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Smart Input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" y="2953385"/>
            <a:ext cx="1828800" cy="1350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uFillTx/>
                <a:latin typeface="Calibri" panose="020F0502020204030204" pitchFamily="34" charset="0"/>
              </a:rPr>
              <a:t>User enters a plain-text product description (e.g., 'OPC 53 Grade Cement')</a:t>
            </a:r>
            <a:endParaRPr lang="en-US" sz="1400" dirty="0">
              <a:solidFill>
                <a:schemeClr val="tx1"/>
              </a:solidFill>
              <a:uFillTx/>
              <a:latin typeface="Calibri" panose="020F050202020403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468880" y="1598930"/>
            <a:ext cx="2011680" cy="297307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68880" y="1600200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81051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42032" y="237744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RAG Retrieval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560320" y="2834640"/>
            <a:ext cx="1828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Hybrid search (semantic + keyword) finds most relevant BIS SP 21 chunks</a:t>
            </a:r>
            <a:r>
              <a:rPr lang="en-IN" alt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 </a:t>
            </a:r>
            <a:endParaRPr lang="en-IN" alt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654550" y="1619250"/>
            <a:ext cx="2011680" cy="295275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IN" altLang="en-US"/>
          </a:p>
        </p:txBody>
      </p:sp>
      <p:sp>
        <p:nvSpPr>
          <p:cNvPr id="18" name="Shape 13"/>
          <p:cNvSpPr/>
          <p:nvPr/>
        </p:nvSpPr>
        <p:spPr>
          <a:xfrm>
            <a:off x="4663440" y="1600200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81051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36592" y="237744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LLM Reasoning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54880" y="2834640"/>
            <a:ext cx="1828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I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858000" y="1592580"/>
            <a:ext cx="2011680" cy="29794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858000" y="1600200"/>
            <a:ext cx="20116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810512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31152" y="237744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Instant Output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949440" y="2834640"/>
            <a:ext cx="1828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Streamlit UI delivers results in &lt;5 sec — no expertise needed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Shape 2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FFDF"/>
                </a:solidFill>
                <a:uFillTx/>
              </a:rPr>
              <a:t>✦  Accuracy  ·  Speed  ·  Zero compliance expertise required  ✦</a:t>
            </a:r>
            <a:endParaRPr lang="en-US" sz="1100" b="1" dirty="0">
              <a:solidFill>
                <a:srgbClr val="03FFDF"/>
              </a:solidFill>
              <a:uFillTx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4754880" y="3213100"/>
            <a:ext cx="1802765" cy="1099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1400"/>
              <a:t>LLM ranks and explains top 3-5 standards with short. actionable rationales</a:t>
            </a:r>
            <a:endParaRPr lang="en-IN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1"/>
          <p:cNvSpPr/>
          <p:nvPr/>
        </p:nvSpPr>
        <p:spPr>
          <a:xfrm>
            <a:off x="4607687" y="46273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3FFDF"/>
                </a:solidFill>
              </a:rPr>
              <a:t>SYSTEM ARCHITECTURE</a:t>
            </a:r>
            <a:endParaRPr lang="en-US" sz="1400" b="1" kern="0" spc="300" dirty="0">
              <a:solidFill>
                <a:srgbClr val="03FFD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RAG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298448" cy="2560320"/>
          </a:xfrm>
          <a:prstGeom prst="rect">
            <a:avLst/>
          </a:prstGeom>
          <a:solidFill>
            <a:srgbClr val="0D22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" y="1874520"/>
            <a:ext cx="12252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FFDF"/>
                </a:solidFill>
              </a:rPr>
              <a:t>Data Ingestion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120700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BIS SP 21 PDFs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Parsed &amp; extracted</a:t>
            </a:r>
            <a:endParaRPr lang="en-US" sz="1400" dirty="0">
              <a:solidFill>
                <a:srgbClr val="CBD5E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27048" y="1783080"/>
            <a:ext cx="1828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9928" y="1417320"/>
            <a:ext cx="1298448" cy="2560320"/>
          </a:xfrm>
          <a:prstGeom prst="rect">
            <a:avLst/>
          </a:prstGeom>
          <a:solidFill>
            <a:srgbClr val="0D22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1280160"/>
            <a:ext cx="457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46504" y="1874520"/>
            <a:ext cx="12252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FFDF"/>
                </a:solidFill>
              </a:rPr>
              <a:t>Chunking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55648" y="2331720"/>
            <a:ext cx="120700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Semantic sections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Overlap preserved</a:t>
            </a:r>
            <a:endParaRPr lang="en-US" sz="1400" dirty="0">
              <a:solidFill>
                <a:srgbClr val="CBD5E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08376" y="1783080"/>
            <a:ext cx="1828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417320"/>
            <a:ext cx="1298448" cy="2560320"/>
          </a:xfrm>
          <a:prstGeom prst="rect">
            <a:avLst/>
          </a:prstGeom>
          <a:solidFill>
            <a:srgbClr val="0D22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02736" y="1280160"/>
            <a:ext cx="457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7832" y="1874520"/>
            <a:ext cx="12252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FFDF"/>
                </a:solidFill>
              </a:rPr>
              <a:t>Embedding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36976" y="2331720"/>
            <a:ext cx="120700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Vector embeddings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generated per chunk</a:t>
            </a:r>
            <a:endParaRPr lang="en-US" sz="1400" dirty="0">
              <a:solidFill>
                <a:srgbClr val="CBD5E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9704" y="1783080"/>
            <a:ext cx="1828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1417320"/>
            <a:ext cx="1298448" cy="2560320"/>
          </a:xfrm>
          <a:prstGeom prst="rect">
            <a:avLst/>
          </a:prstGeom>
          <a:solidFill>
            <a:srgbClr val="0D22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1280160"/>
            <a:ext cx="457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1874520"/>
            <a:ext cx="12252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FFDF"/>
                </a:solidFill>
              </a:rPr>
              <a:t>Qdrant DB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18304" y="2331720"/>
            <a:ext cx="120700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Vectors stored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indexed for search</a:t>
            </a:r>
            <a:endParaRPr lang="en-US" sz="1400" dirty="0">
              <a:solidFill>
                <a:srgbClr val="CBD5E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71032" y="1783080"/>
            <a:ext cx="1828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1417320"/>
            <a:ext cx="1298448" cy="2560320"/>
          </a:xfrm>
          <a:prstGeom prst="rect">
            <a:avLst/>
          </a:prstGeom>
          <a:solidFill>
            <a:srgbClr val="0D22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1280160"/>
            <a:ext cx="457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0488" y="1874520"/>
            <a:ext cx="12252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FFDF"/>
                </a:solidFill>
              </a:rPr>
              <a:t>Retrieval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99632" y="2331720"/>
            <a:ext cx="120700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Hybrid 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0.7 sem / 0.3 kw</a:t>
            </a:r>
            <a:endParaRPr lang="en-US" sz="1400" dirty="0">
              <a:solidFill>
                <a:srgbClr val="CBD5E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52360" y="1783080"/>
            <a:ext cx="1828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417320"/>
            <a:ext cx="1298448" cy="2560320"/>
          </a:xfrm>
          <a:prstGeom prst="rect">
            <a:avLst/>
          </a:prstGeom>
          <a:solidFill>
            <a:srgbClr val="0D22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280160"/>
            <a:ext cx="457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1280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71816" y="1874520"/>
            <a:ext cx="12252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FFDF"/>
                </a:solidFill>
              </a:rPr>
              <a:t>LLM Output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680960" y="2331720"/>
            <a:ext cx="120700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Ranked standards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with rationale</a:t>
            </a:r>
            <a:endParaRPr lang="en-US" sz="1400" dirty="0">
              <a:solidFill>
                <a:srgbClr val="CBD5E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5760" y="419735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Tech Stack: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215390" y="417906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15390" y="4179062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endParaRPr lang="en-US" sz="9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15517" y="46273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15517" y="4627372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LangChain</a:t>
            </a:r>
            <a:endParaRPr lang="en-US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367534" y="41701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06574" y="4179062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effectLst/>
              </a:rPr>
              <a:t>Qdrant</a:t>
            </a:r>
            <a:endParaRPr lang="en-US" sz="900" dirty="0">
              <a:effectLst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367026" y="46273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67026" y="4627372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OpenAI Embeddings</a:t>
            </a:r>
            <a:endParaRPr lang="en-US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483483" y="4197477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83483" y="4197477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Streamlit</a:t>
            </a:r>
            <a:endParaRPr lang="en-US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483610" y="4627372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83610" y="4627372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inference.py</a:t>
            </a:r>
            <a:endParaRPr lang="en-US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607687" y="4197477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A1F45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7687" y="4627372"/>
            <a:ext cx="1005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eval_script.py</a:t>
            </a:r>
            <a:endParaRPr lang="en-US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4793615" y="4244975"/>
            <a:ext cx="81978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900">
                <a:solidFill>
                  <a:schemeClr val="bg1"/>
                </a:solidFill>
              </a:rPr>
              <a:t>UI.py</a:t>
            </a:r>
            <a:endParaRPr lang="en-I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6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3FFDF"/>
                </a:solidFill>
              </a:rPr>
              <a:t>RETRIEVAL STRATEGY</a:t>
            </a:r>
            <a:endParaRPr lang="en-US" sz="1400" b="1" kern="0" spc="300" dirty="0">
              <a:solidFill>
                <a:srgbClr val="03FFD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Chunking + Hybrid Search — Precision by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931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305" y="1232535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📄  Chunking 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8648" y="1371473"/>
            <a:ext cx="2523744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Semantic sectioning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Clause-aware boundaries — no mid-sentence splits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Overlapping windows to preserve context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Metadata tagged: standard ID, section, page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Optimal chunk size tuned per BIS document structure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61745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🔢  Embedding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454658"/>
            <a:ext cx="2523744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OpenAI text-embedding model (dense vectors)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Captures semantic meaning beyond keyword overlap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Vectors stored in Qdrant with payload metadata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Supports cosine similarity search at scale</a:t>
            </a: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model at index + query time for consistency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3931920"/>
          </a:xfrm>
          <a:prstGeom prst="rect">
            <a:avLst/>
          </a:prstGeom>
          <a:solidFill>
            <a:srgbClr val="0D1B3E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⚡  Hybrid Retrieval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627632"/>
            <a:ext cx="19202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627632"/>
            <a:ext cx="65836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27632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Semantic  70%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1627632"/>
            <a:ext cx="6583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KW 30%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1128" y="1627505"/>
            <a:ext cx="2523744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0.7 semantic weight — captures intent &amp; meaning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0.3 keyword weight — anchors exact standard codes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 of both: fuzzy + precise matching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Reranking applied post-retrieval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Reduces false positives vs. pure semantic search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Box 111"/>
          <p:cNvSpPr txBox="1"/>
          <p:nvPr/>
        </p:nvSpPr>
        <p:spPr>
          <a:xfrm>
            <a:off x="254000" y="612775"/>
            <a:ext cx="8475980" cy="786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FFFFFF"/>
                </a:solidFill>
                <a:ea typeface="Roboto Medium" panose="02000000000000000000" pitchFamily="34" charset="-122"/>
                <a:cs typeface="+mn-lt"/>
                <a:sym typeface="+mn-ea"/>
              </a:rPr>
              <a:t>Demo Highlights — 10/10 Queries Correct</a:t>
            </a:r>
            <a:endParaRPr lang="en-US" sz="3600" dirty="0">
              <a:solidFill>
                <a:srgbClr val="FFFFFF"/>
              </a:solidFill>
              <a:ea typeface="Roboto Medium" panose="02000000000000000000" pitchFamily="34" charset="-122"/>
              <a:cs typeface="+mn-lt"/>
              <a:sym typeface="+mn-ea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389255" y="1547495"/>
            <a:ext cx="3133090" cy="1583055"/>
          </a:xfrm>
          <a:prstGeom prst="roundRect">
            <a:avLst>
              <a:gd name="adj" fmla="val 704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00B69F"/>
            </a:solidFill>
            <a:prstDash val="solid"/>
          </a:ln>
        </p:spPr>
      </p:sp>
      <p:sp>
        <p:nvSpPr>
          <p:cNvPr id="118" name="Shape 4"/>
          <p:cNvSpPr/>
          <p:nvPr/>
        </p:nvSpPr>
        <p:spPr>
          <a:xfrm>
            <a:off x="358775" y="1547495"/>
            <a:ext cx="76835" cy="1556385"/>
          </a:xfrm>
          <a:prstGeom prst="roundRect">
            <a:avLst>
              <a:gd name="adj" fmla="val 78139"/>
            </a:avLst>
          </a:prstGeom>
          <a:solidFill>
            <a:srgbClr val="00B69F"/>
          </a:solidFill>
        </p:spPr>
      </p:sp>
      <p:sp>
        <p:nvSpPr>
          <p:cNvPr id="119" name="Text 5"/>
          <p:cNvSpPr/>
          <p:nvPr/>
        </p:nvSpPr>
        <p:spPr>
          <a:xfrm>
            <a:off x="585470" y="1551940"/>
            <a:ext cx="2854960" cy="817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Calibri" panose="020F0502020204030204" pitchFamily="34" charset="0"/>
                <a:ea typeface="Roboto Medium" panose="02000000000000000000" pitchFamily="34" charset="-122"/>
                <a:cs typeface="Calibri" panose="020F0502020204030204" pitchFamily="34" charset="0"/>
              </a:rPr>
              <a:t>"33 Grade OrdinaryPortland Cement"</a:t>
            </a:r>
            <a:endParaRPr lang="en-US" dirty="0">
              <a:solidFill>
                <a:srgbClr val="CFD0D8"/>
              </a:solidFill>
              <a:latin typeface="Calibri" panose="020F0502020204030204" pitchFamily="34" charset="0"/>
              <a:ea typeface="Roboto Medium" panose="020000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591344" y="2521347"/>
            <a:ext cx="359033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→ </a:t>
            </a:r>
            <a:r>
              <a:rPr lang="en-US" sz="1750" b="1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 269: 1989</a:t>
            </a: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750" dirty="0"/>
          </a:p>
        </p:txBody>
      </p:sp>
      <p:sp>
        <p:nvSpPr>
          <p:cNvPr id="121" name="Shape 7"/>
          <p:cNvSpPr/>
          <p:nvPr/>
        </p:nvSpPr>
        <p:spPr>
          <a:xfrm>
            <a:off x="3731895" y="1478280"/>
            <a:ext cx="3456305" cy="1624965"/>
          </a:xfrm>
          <a:prstGeom prst="roundRect">
            <a:avLst>
              <a:gd name="adj" fmla="val 704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00B69F"/>
            </a:solidFill>
            <a:prstDash val="solid"/>
          </a:ln>
        </p:spPr>
      </p:sp>
      <p:sp>
        <p:nvSpPr>
          <p:cNvPr id="122" name="Shape 8"/>
          <p:cNvSpPr/>
          <p:nvPr/>
        </p:nvSpPr>
        <p:spPr>
          <a:xfrm>
            <a:off x="3738880" y="1477645"/>
            <a:ext cx="76200" cy="1626235"/>
          </a:xfrm>
          <a:prstGeom prst="roundRect">
            <a:avLst>
              <a:gd name="adj" fmla="val 78139"/>
            </a:avLst>
          </a:prstGeom>
          <a:solidFill>
            <a:srgbClr val="00B69F"/>
          </a:solidFill>
        </p:spPr>
      </p:sp>
      <p:sp>
        <p:nvSpPr>
          <p:cNvPr id="123" name="Text 9"/>
          <p:cNvSpPr/>
          <p:nvPr/>
        </p:nvSpPr>
        <p:spPr>
          <a:xfrm>
            <a:off x="4059476" y="1547693"/>
            <a:ext cx="359033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Calibri" panose="020F0502020204030204" pitchFamily="34" charset="0"/>
                <a:ea typeface="Roboto Medium" panose="02000000000000000000" pitchFamily="34" charset="-122"/>
                <a:cs typeface="Calibri" panose="020F0502020204030204" pitchFamily="34" charset="0"/>
              </a:rPr>
              <a:t>"Coarse and fine aggregates for structural concrete"</a:t>
            </a:r>
            <a:endParaRPr lang="en-US" dirty="0">
              <a:solidFill>
                <a:srgbClr val="CFD0D8"/>
              </a:solidFill>
              <a:latin typeface="Calibri" panose="020F0502020204030204" pitchFamily="34" charset="0"/>
              <a:ea typeface="Roboto Medium" panose="020000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3867071" y="2565797"/>
            <a:ext cx="359033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→ </a:t>
            </a:r>
            <a:r>
              <a:rPr lang="en-US" sz="1750" b="1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 383: 1970</a:t>
            </a: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750" dirty="0"/>
          </a:p>
        </p:txBody>
      </p:sp>
      <p:sp>
        <p:nvSpPr>
          <p:cNvPr id="127" name="Text 13"/>
          <p:cNvSpPr/>
          <p:nvPr/>
        </p:nvSpPr>
        <p:spPr>
          <a:xfrm>
            <a:off x="9966008" y="3142178"/>
            <a:ext cx="3590330" cy="1062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29" name="Shape 15"/>
          <p:cNvSpPr/>
          <p:nvPr/>
        </p:nvSpPr>
        <p:spPr>
          <a:xfrm>
            <a:off x="338455" y="3303905"/>
            <a:ext cx="3147695" cy="1419860"/>
          </a:xfrm>
          <a:prstGeom prst="roundRect">
            <a:avLst>
              <a:gd name="adj" fmla="val 849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00B69F"/>
            </a:solidFill>
            <a:prstDash val="solid"/>
          </a:ln>
        </p:spPr>
      </p:sp>
      <p:sp>
        <p:nvSpPr>
          <p:cNvPr id="130" name="Shape 16"/>
          <p:cNvSpPr/>
          <p:nvPr/>
        </p:nvSpPr>
        <p:spPr>
          <a:xfrm>
            <a:off x="338455" y="3303905"/>
            <a:ext cx="76200" cy="1453515"/>
          </a:xfrm>
          <a:prstGeom prst="roundRect">
            <a:avLst>
              <a:gd name="adj" fmla="val 78139"/>
            </a:avLst>
          </a:prstGeom>
          <a:solidFill>
            <a:srgbClr val="00B69F"/>
          </a:solidFill>
        </p:spPr>
      </p:sp>
      <p:sp>
        <p:nvSpPr>
          <p:cNvPr id="131" name="Text 17"/>
          <p:cNvSpPr/>
          <p:nvPr/>
        </p:nvSpPr>
        <p:spPr>
          <a:xfrm>
            <a:off x="469265" y="3432175"/>
            <a:ext cx="2831465" cy="522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Calibri" panose="020F0502020204030204" pitchFamily="34" charset="0"/>
                <a:ea typeface="Roboto Medium" panose="02000000000000000000" pitchFamily="34" charset="-122"/>
                <a:cs typeface="Calibri" panose="020F0502020204030204" pitchFamily="34" charset="0"/>
              </a:rPr>
              <a:t>"Portland pozzolana cement calcined clay based"</a:t>
            </a:r>
            <a:endParaRPr lang="en-US" dirty="0">
              <a:solidFill>
                <a:srgbClr val="CFD0D8"/>
              </a:solidFill>
              <a:latin typeface="Calibri" panose="020F0502020204030204" pitchFamily="34" charset="0"/>
              <a:ea typeface="Roboto Medium" panose="020000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526574" y="4308475"/>
            <a:ext cx="359033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→ </a:t>
            </a:r>
            <a:r>
              <a:rPr lang="en-US" sz="1750" b="1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 1489 (Part 2): 1991</a:t>
            </a: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750" dirty="0"/>
          </a:p>
        </p:txBody>
      </p:sp>
      <p:sp>
        <p:nvSpPr>
          <p:cNvPr id="133" name="Shape 19"/>
          <p:cNvSpPr/>
          <p:nvPr/>
        </p:nvSpPr>
        <p:spPr>
          <a:xfrm>
            <a:off x="3749675" y="3279775"/>
            <a:ext cx="3451225" cy="1437640"/>
          </a:xfrm>
          <a:prstGeom prst="roundRect">
            <a:avLst>
              <a:gd name="adj" fmla="val 849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00B69F"/>
            </a:solidFill>
            <a:prstDash val="solid"/>
          </a:ln>
        </p:spPr>
      </p:sp>
      <p:sp>
        <p:nvSpPr>
          <p:cNvPr id="134" name="Shape 20"/>
          <p:cNvSpPr/>
          <p:nvPr/>
        </p:nvSpPr>
        <p:spPr>
          <a:xfrm>
            <a:off x="3749675" y="3303905"/>
            <a:ext cx="76200" cy="1400810"/>
          </a:xfrm>
          <a:prstGeom prst="roundRect">
            <a:avLst>
              <a:gd name="adj" fmla="val 78139"/>
            </a:avLst>
          </a:prstGeom>
          <a:solidFill>
            <a:srgbClr val="00B69F"/>
          </a:solidFill>
        </p:spPr>
      </p:sp>
      <p:sp>
        <p:nvSpPr>
          <p:cNvPr id="135" name="Text 21"/>
          <p:cNvSpPr/>
          <p:nvPr/>
        </p:nvSpPr>
        <p:spPr>
          <a:xfrm>
            <a:off x="3987800" y="3432175"/>
            <a:ext cx="3119120" cy="482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Calibri" panose="020F0502020204030204" pitchFamily="34" charset="0"/>
                <a:ea typeface="Roboto Medium" panose="02000000000000000000" pitchFamily="34" charset="-122"/>
                <a:cs typeface="Calibri" panose="020F0502020204030204" pitchFamily="34" charset="0"/>
              </a:rPr>
              <a:t>"Supersulphated cement for marine works"</a:t>
            </a:r>
            <a:endParaRPr lang="en-US" dirty="0">
              <a:solidFill>
                <a:srgbClr val="CFD0D8"/>
              </a:solidFill>
              <a:latin typeface="Calibri" panose="020F0502020204030204" pitchFamily="34" charset="0"/>
              <a:ea typeface="Roboto Medium" panose="020000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136" name="Text 22"/>
          <p:cNvSpPr/>
          <p:nvPr/>
        </p:nvSpPr>
        <p:spPr>
          <a:xfrm>
            <a:off x="3867071" y="4243705"/>
            <a:ext cx="359033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→ </a:t>
            </a:r>
            <a:r>
              <a:rPr lang="en-US" sz="1750" b="1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 6909: 1990</a:t>
            </a:r>
            <a:r>
              <a:rPr lang="en-US" sz="1750" dirty="0">
                <a:solidFill>
                  <a:srgbClr val="CFD0D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7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endParaRPr lang="en-US" sz="1750" dirty="0"/>
          </a:p>
        </p:txBody>
      </p:sp>
      <p:sp>
        <p:nvSpPr>
          <p:cNvPr id="137" name="Text Box 136"/>
          <p:cNvSpPr txBox="1"/>
          <p:nvPr/>
        </p:nvSpPr>
        <p:spPr>
          <a:xfrm>
            <a:off x="254000" y="250825"/>
            <a:ext cx="4572000" cy="361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IN" altLang="en-US" sz="1400" b="1" kern="0" spc="300" dirty="0">
                <a:solidFill>
                  <a:srgbClr val="03FFDF"/>
                </a:solidFill>
                <a:sym typeface="+mn-ea"/>
              </a:rPr>
              <a:t>DEMO RESULTS</a:t>
            </a:r>
            <a:endParaRPr lang="en-IN" altLang="en-US" sz="1400" b="1" kern="0" spc="300" dirty="0">
              <a:solidFill>
                <a:srgbClr val="03FFDF"/>
              </a:solidFill>
              <a:sym typeface="+mn-ea"/>
            </a:endParaRPr>
          </a:p>
          <a:p>
            <a:pPr marL="0" indent="0">
              <a:buNone/>
            </a:pPr>
            <a:endParaRPr lang="en-IN" altLang="en-US" sz="1400" b="1" kern="0" spc="300" dirty="0">
              <a:solidFill>
                <a:srgbClr val="03FFD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6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3FFDF"/>
                </a:solidFill>
              </a:rPr>
              <a:t>EVALUATION RESULTS</a:t>
            </a:r>
            <a:endParaRPr lang="en-US" sz="1400" b="1" kern="0" spc="300" dirty="0">
              <a:solidFill>
                <a:srgbClr val="03FFD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Measured. Validated. Production-Ready.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2011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4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</a:t>
            </a:r>
            <a:r>
              <a:rPr lang="en-US" sz="4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</a:t>
            </a:r>
            <a:endParaRPr lang="en-US" sz="4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Hit Rate @3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5603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1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en-US" sz="1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out of 10 queries return the correct standard in top 3</a:t>
            </a:r>
            <a:endParaRPr lang="en-US" sz="1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64408" y="1005840"/>
            <a:ext cx="2743200" cy="2011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05840"/>
            <a:ext cx="27432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8872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</a:t>
            </a:r>
            <a:r>
              <a:rPr lang="en-IN" altLang="en-US" sz="4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</a:t>
            </a:r>
            <a:endParaRPr lang="en-IN" altLang="en-US" sz="4600" b="1" dirty="0">
              <a:solidFill>
                <a:srgbClr val="F5A62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64408" y="20116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MRR @5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377440"/>
            <a:ext cx="25603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Mean Reciprocal Rank — relevant result appears near top consistently</a:t>
            </a:r>
            <a:endParaRPr lang="en-US" sz="1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08776" y="1005840"/>
            <a:ext cx="2743200" cy="2011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005840"/>
            <a:ext cx="2743200" cy="9144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18872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8A7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</a:t>
            </a:r>
            <a:r>
              <a:rPr lang="en-IN" altLang="en-US" sz="4600" b="1" dirty="0">
                <a:solidFill>
                  <a:srgbClr val="28A7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4600" b="1" dirty="0">
                <a:solidFill>
                  <a:srgbClr val="28A7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208776" y="20116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Avg. Latency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2377440"/>
            <a:ext cx="25603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Well within the 5-second target — fast enough for real-time use</a:t>
            </a:r>
            <a:endParaRPr lang="en-US" sz="1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0" name="Chart 0"/>
          <p:cNvGraphicFramePr/>
          <p:nvPr/>
        </p:nvGraphicFramePr>
        <p:xfrm>
          <a:off x="319405" y="3166745"/>
          <a:ext cx="5688330" cy="180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208395" y="3110230"/>
            <a:ext cx="2743835" cy="178181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0470" y="3118993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FFDF"/>
                </a:solidFill>
              </a:rPr>
              <a:t>What the numbers mean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27445" y="3486150"/>
            <a:ext cx="2633472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 Rate @3: Correct standard in top 3 — </a:t>
            </a:r>
            <a:r>
              <a:rPr lang="en-IN" alt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r>
              <a:rPr 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 success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MRR @5: Relevant result ranks high — 0.</a:t>
            </a:r>
            <a:r>
              <a:rPr lang="en-IN" alt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excellent for retrieval systems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Latency: 3.</a:t>
            </a:r>
            <a:r>
              <a:rPr lang="en-IN" alt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sz="10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avg — well under 5s SLA, suitable for real-time UI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3FFDF"/>
                </a:solidFill>
              </a:rPr>
              <a:t>REAL-WORLD IMPACT</a:t>
            </a:r>
            <a:endParaRPr lang="en-US" sz="1400" b="1" kern="0" spc="300" dirty="0">
              <a:solidFill>
                <a:srgbClr val="03FFD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Transforming MSE Compliance, at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0510" y="1229360"/>
            <a:ext cx="4206240" cy="1600200"/>
          </a:xfrm>
          <a:prstGeom prst="rect">
            <a:avLst/>
          </a:prstGeom>
          <a:solidFill>
            <a:srgbClr val="0D2247"/>
          </a:solidFill>
          <a:ln w="10160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495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145338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FFDF"/>
                </a:solidFill>
              </a:rPr>
              <a:t>Time Savings</a:t>
            </a:r>
            <a:endParaRPr lang="en-US" sz="1000" b="1" dirty="0">
              <a:solidFill>
                <a:srgbClr val="03FFDF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069848" y="1743329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Weeks → Minutes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9848" y="1987677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MSEs identify relevant BIS standards in under 5 seconds vs. manual search taking 3–6 weeks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39767" y="1261745"/>
            <a:ext cx="4206240" cy="1600200"/>
          </a:xfrm>
          <a:prstGeom prst="rect">
            <a:avLst/>
          </a:prstGeom>
          <a:solidFill>
            <a:srgbClr val="0D2247"/>
          </a:solidFill>
          <a:ln w="10160">
            <a:solidFill>
              <a:srgbClr val="00A89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887" y="1801495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8132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FFDF"/>
                </a:solidFill>
              </a:rPr>
              <a:t>Cost Reduction</a:t>
            </a:r>
            <a:endParaRPr lang="en-US" sz="1000" b="1" dirty="0">
              <a:solidFill>
                <a:srgbClr val="03FFDF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5486400" y="1743329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Zero Expert Fees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32120" y="1987677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Eliminates need to hire compliance consultants — saves ₹20,000–₹1L+ per compliance cycle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70510" y="3044825"/>
            <a:ext cx="4206240" cy="1600200"/>
          </a:xfrm>
          <a:prstGeom prst="rect">
            <a:avLst/>
          </a:prstGeom>
          <a:solidFill>
            <a:srgbClr val="0D2247"/>
          </a:solidFill>
          <a:ln w="10160">
            <a:solidFill>
              <a:srgbClr val="00A89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1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9848" y="3197733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FFDF"/>
                </a:solidFill>
              </a:rPr>
              <a:t>Faster Market Entry</a:t>
            </a:r>
            <a:endParaRPr lang="en-US" sz="1000" b="1" dirty="0">
              <a:solidFill>
                <a:srgbClr val="03FFDF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69848" y="351815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Accelerated Launch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069848" y="3770757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Compliance bottleneck removed — products reach market faster, revenue realized sooner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39767" y="3044825"/>
            <a:ext cx="4206240" cy="1600200"/>
          </a:xfrm>
          <a:prstGeom prst="rect">
            <a:avLst/>
          </a:prstGeom>
          <a:solidFill>
            <a:srgbClr val="0D2247"/>
          </a:solidFill>
          <a:ln w="10160">
            <a:solidFill>
              <a:srgbClr val="00A89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887" y="3556635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197733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FFDF"/>
                </a:solidFill>
              </a:rPr>
              <a:t>Democratized Access</a:t>
            </a:r>
            <a:endParaRPr lang="en-US" sz="1000" b="1" dirty="0">
              <a:solidFill>
                <a:srgbClr val="03FFDF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5440680" y="351815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Any MSE, Anywhere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486400" y="3770757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Rural and tier-2 city enterprises gain same compliance intelligence as large corporations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271145" y="4709160"/>
            <a:ext cx="855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</a:rPr>
              <a:t>India has 63M+ MSEs. Even 1% adoption = 630,000 businesses with faster, smarter compliance.</a:t>
            </a:r>
            <a:endParaRPr lang="en-US" sz="1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6205" y="248285"/>
            <a:ext cx="8713470" cy="327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03FFDF"/>
                </a:solidFill>
              </a:rPr>
              <a:t>TEAM &amp; ACKNOWLEDGEMENTS</a:t>
            </a:r>
            <a:endParaRPr lang="en-IN" altLang="en-US" b="1" kern="0" spc="300" dirty="0">
              <a:solidFill>
                <a:srgbClr val="03FFD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50520" y="786765"/>
            <a:ext cx="1800225" cy="165481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1115568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487295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1400" b="1" dirty="0">
                <a:solidFill>
                  <a:srgbClr val="F0F4F8"/>
                </a:solidFill>
              </a:rPr>
              <a:t>Praneel Balla</a:t>
            </a:r>
            <a:endParaRPr lang="en-IN" altLang="en-US" sz="1400" b="1" dirty="0">
              <a:solidFill>
                <a:srgbClr val="F0F4F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791333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FFDF"/>
                </a:solidFill>
              </a:rPr>
              <a:t>AI / RAG Engineer</a:t>
            </a:r>
            <a:endParaRPr lang="en-US" sz="1000" dirty="0">
              <a:solidFill>
                <a:srgbClr val="03FFD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541905" y="786130"/>
            <a:ext cx="1787525" cy="165544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325880"/>
            <a:ext cx="1115568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35352" y="2541905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1400" b="1" dirty="0">
                <a:solidFill>
                  <a:srgbClr val="F0F4F8"/>
                </a:solidFill>
              </a:rPr>
              <a:t>Purav M Asher</a:t>
            </a:r>
            <a:endParaRPr lang="en-IN" altLang="en-US" sz="1400" b="1" dirty="0">
              <a:solidFill>
                <a:srgbClr val="F0F4F8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35352" y="2807208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1000" dirty="0">
                <a:solidFill>
                  <a:srgbClr val="03FFDF"/>
                </a:solidFill>
              </a:rPr>
              <a:t>Full Stack</a:t>
            </a:r>
            <a:r>
              <a:rPr lang="en-US" sz="1000" dirty="0">
                <a:solidFill>
                  <a:srgbClr val="03FFDF"/>
                </a:solidFill>
              </a:rPr>
              <a:t> Developer</a:t>
            </a:r>
            <a:endParaRPr lang="en-US" sz="1000" dirty="0">
              <a:solidFill>
                <a:srgbClr val="03FFD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1111250"/>
            <a:ext cx="3977640" cy="1600200"/>
          </a:xfrm>
          <a:prstGeom prst="rect">
            <a:avLst/>
          </a:prstGeom>
          <a:solidFill>
            <a:srgbClr val="0D1B3E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7755" y="1266698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FFDF"/>
                </a:solidFill>
              </a:rPr>
              <a:t>🛠  Tools &amp; Libraries</a:t>
            </a:r>
            <a:endParaRPr lang="en-US" sz="1200" b="1" dirty="0">
              <a:solidFill>
                <a:srgbClr val="03FFD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52162" y="1614170"/>
            <a:ext cx="3703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Embeddings:</a:t>
            </a:r>
            <a:r>
              <a:rPr lang="en-US" sz="120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BAAI/bge-small-en-v1.5</a:t>
            </a:r>
            <a:endParaRPr 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LLM:</a:t>
            </a:r>
            <a:r>
              <a:rPr lang="en-US" sz="120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Llama 3.3 70B via Groq LPU</a:t>
            </a:r>
            <a:endParaRPr lang="en-US" sz="1200" dirty="0">
              <a:solidFill>
                <a:schemeClr val="bg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Vector DB:</a:t>
            </a:r>
            <a:r>
              <a:rPr lang="en-US" sz="120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Qdrant (local)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Backend:</a:t>
            </a:r>
            <a:r>
              <a:rPr lang="en-US" sz="120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Python · </a:t>
            </a:r>
            <a:r>
              <a:rPr lang="en-US" sz="1200" b="1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Frontend:</a:t>
            </a:r>
            <a:r>
              <a:rPr lang="en-US" sz="120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Streamlit</a:t>
            </a:r>
            <a:endParaRPr 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3081655"/>
            <a:ext cx="3978275" cy="1584325"/>
          </a:xfrm>
          <a:prstGeom prst="rect">
            <a:avLst/>
          </a:prstGeom>
          <a:solidFill>
            <a:srgbClr val="0D1B3E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7755" y="3205988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📚  Data &amp; Acknowledgements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727" y="3465830"/>
            <a:ext cx="39319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Dataset: BIS SP 21 (Bureau of Indian Standards)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Inspiration: India's MSME Digital India mission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Hackathon organizers &amp; mentors</a:t>
            </a:r>
            <a:endParaRPr lang="en-US" sz="1200" dirty="0">
              <a:solidFill>
                <a:srgbClr val="F0F4F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1B3E"/>
                </a:solidFill>
              </a:rPr>
              <a:t>"Compliance should empower MSEs — not hold them back. We built the engine to make that real."</a:t>
            </a:r>
            <a:endParaRPr lang="en-US" sz="1100" dirty="0"/>
          </a:p>
        </p:txBody>
      </p:sp>
      <p:sp>
        <p:nvSpPr>
          <p:cNvPr id="29" name="Text Box 28"/>
          <p:cNvSpPr txBox="1"/>
          <p:nvPr/>
        </p:nvSpPr>
        <p:spPr>
          <a:xfrm>
            <a:off x="5068570" y="1435735"/>
            <a:ext cx="292163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IN" altLang="en-US" sz="2800" b="1">
              <a:solidFill>
                <a:schemeClr val="bg1"/>
              </a:solidFill>
            </a:endParaRPr>
          </a:p>
        </p:txBody>
      </p:sp>
      <p:sp>
        <p:nvSpPr>
          <p:cNvPr id="76" name="Text Box 75"/>
          <p:cNvSpPr txBox="1"/>
          <p:nvPr/>
        </p:nvSpPr>
        <p:spPr>
          <a:xfrm>
            <a:off x="1174750" y="3339465"/>
            <a:ext cx="2522855" cy="501650"/>
          </a:xfrm>
          <a:prstGeom prst="rect">
            <a:avLst/>
          </a:prstGeom>
          <a:noFill/>
          <a:ln>
            <a:solidFill>
              <a:srgbClr val="2ADFEA"/>
            </a:solidFill>
          </a:ln>
        </p:spPr>
        <p:txBody>
          <a:bodyPr wrap="square" rtlCol="0">
            <a:noAutofit/>
          </a:bodyPr>
          <a:p>
            <a:r>
              <a:rPr lang="en-IN" altLang="en-US" sz="2400" b="1">
                <a:solidFill>
                  <a:srgbClr val="03FFDF"/>
                </a:solidFill>
              </a:rPr>
              <a:t> WaterMelon.exe</a:t>
            </a:r>
            <a:endParaRPr lang="en-IN" altLang="en-US" sz="2400" b="1">
              <a:solidFill>
                <a:srgbClr val="03FFD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4091</Words>
  <Application>WPS Presentation</Application>
  <PresentationFormat>On-screen Show (16:9)</PresentationFormat>
  <Paragraphs>258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Times New Roman</vt:lpstr>
      <vt:lpstr>Roboto Medium</vt:lpstr>
      <vt:lpstr>Roboto</vt:lpstr>
      <vt:lpstr>Roboto</vt:lpstr>
      <vt:lpstr>Roboto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Recommendation Engine</dc:title>
  <dc:creator>Hackathon Team</dc:creator>
  <dc:subject>PptxGenJS Presentation</dc:subject>
  <cp:lastModifiedBy>Praneel Balla</cp:lastModifiedBy>
  <cp:revision>7</cp:revision>
  <dcterms:created xsi:type="dcterms:W3CDTF">2026-05-02T06:04:00Z</dcterms:created>
  <dcterms:modified xsi:type="dcterms:W3CDTF">2026-05-02T11:11:48Z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418B342B91334772893CF7F561850E34_13</vt:lpwstr>
  </property>
</Properties>
</file>